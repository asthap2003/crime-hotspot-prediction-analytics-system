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7" r:id="rId10"/>
    <p:sldId id="268" r:id="rId11"/>
    <p:sldId id="270" r:id="rId12"/>
    <p:sldId id="269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BC904-38B2-4089-B0B5-490792B7A3E1}" v="2" dt="2026-06-04T08:12:29.6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tha Patrange" userId="4722a1d6d5948542" providerId="LiveId" clId="{DAD99565-443E-430D-B4DB-D617CAAD826C}"/>
    <pc:docChg chg="custSel delSld modSld">
      <pc:chgData name="Astha Patrange" userId="4722a1d6d5948542" providerId="LiveId" clId="{DAD99565-443E-430D-B4DB-D617CAAD826C}" dt="2026-06-04T09:11:26.742" v="110" actId="1076"/>
      <pc:docMkLst>
        <pc:docMk/>
      </pc:docMkLst>
      <pc:sldChg chg="modSp mod">
        <pc:chgData name="Astha Patrange" userId="4722a1d6d5948542" providerId="LiveId" clId="{DAD99565-443E-430D-B4DB-D617CAAD826C}" dt="2026-06-04T08:19:28.775" v="105" actId="12"/>
        <pc:sldMkLst>
          <pc:docMk/>
          <pc:sldMk cId="0" sldId="257"/>
        </pc:sldMkLst>
        <pc:spChg chg="mod">
          <ac:chgData name="Astha Patrange" userId="4722a1d6d5948542" providerId="LiveId" clId="{DAD99565-443E-430D-B4DB-D617CAAD826C}" dt="2026-06-04T08:19:28.775" v="105" actId="12"/>
          <ac:spMkLst>
            <pc:docMk/>
            <pc:sldMk cId="0" sldId="257"/>
            <ac:spMk id="57" creationId="{00000000-0000-0000-0000-000000000000}"/>
          </ac:spMkLst>
        </pc:spChg>
      </pc:sldChg>
      <pc:sldChg chg="modSp mod">
        <pc:chgData name="Astha Patrange" userId="4722a1d6d5948542" providerId="LiveId" clId="{DAD99565-443E-430D-B4DB-D617CAAD826C}" dt="2026-06-04T09:10:33.809" v="108" actId="20577"/>
        <pc:sldMkLst>
          <pc:docMk/>
          <pc:sldMk cId="0" sldId="258"/>
        </pc:sldMkLst>
        <pc:spChg chg="mod">
          <ac:chgData name="Astha Patrange" userId="4722a1d6d5948542" providerId="LiveId" clId="{DAD99565-443E-430D-B4DB-D617CAAD826C}" dt="2026-06-04T09:10:33.809" v="108" actId="20577"/>
          <ac:spMkLst>
            <pc:docMk/>
            <pc:sldMk cId="0" sldId="258"/>
            <ac:spMk id="69" creationId="{00000000-0000-0000-0000-000000000000}"/>
          </ac:spMkLst>
        </pc:spChg>
      </pc:sldChg>
      <pc:sldChg chg="modSp mod">
        <pc:chgData name="Astha Patrange" userId="4722a1d6d5948542" providerId="LiveId" clId="{DAD99565-443E-430D-B4DB-D617CAAD826C}" dt="2026-06-04T09:11:26.742" v="110" actId="1076"/>
        <pc:sldMkLst>
          <pc:docMk/>
          <pc:sldMk cId="0" sldId="259"/>
        </pc:sldMkLst>
        <pc:spChg chg="mod">
          <ac:chgData name="Astha Patrange" userId="4722a1d6d5948542" providerId="LiveId" clId="{DAD99565-443E-430D-B4DB-D617CAAD826C}" dt="2026-06-04T09:11:26.742" v="110" actId="1076"/>
          <ac:spMkLst>
            <pc:docMk/>
            <pc:sldMk cId="0" sldId="259"/>
            <ac:spMk id="78" creationId="{00000000-0000-0000-0000-000000000000}"/>
          </ac:spMkLst>
        </pc:spChg>
      </pc:sldChg>
      <pc:sldChg chg="del">
        <pc:chgData name="Astha Patrange" userId="4722a1d6d5948542" providerId="LiveId" clId="{DAD99565-443E-430D-B4DB-D617CAAD826C}" dt="2026-06-04T08:13:13.114" v="65" actId="47"/>
        <pc:sldMkLst>
          <pc:docMk/>
          <pc:sldMk cId="0" sldId="260"/>
        </pc:sldMkLst>
      </pc:sldChg>
      <pc:sldChg chg="modSp mod">
        <pc:chgData name="Astha Patrange" userId="4722a1d6d5948542" providerId="LiveId" clId="{DAD99565-443E-430D-B4DB-D617CAAD826C}" dt="2026-06-04T08:13:44.643" v="66" actId="14100"/>
        <pc:sldMkLst>
          <pc:docMk/>
          <pc:sldMk cId="0" sldId="262"/>
        </pc:sldMkLst>
        <pc:spChg chg="mod">
          <ac:chgData name="Astha Patrange" userId="4722a1d6d5948542" providerId="LiveId" clId="{DAD99565-443E-430D-B4DB-D617CAAD826C}" dt="2026-06-04T08:13:44.643" v="66" actId="14100"/>
          <ac:spMkLst>
            <pc:docMk/>
            <pc:sldMk cId="0" sldId="262"/>
            <ac:spMk id="105" creationId="{00000000-0000-0000-0000-000000000000}"/>
          </ac:spMkLst>
        </pc:spChg>
      </pc:sldChg>
      <pc:sldChg chg="delSp modSp mod">
        <pc:chgData name="Astha Patrange" userId="4722a1d6d5948542" providerId="LiveId" clId="{DAD99565-443E-430D-B4DB-D617CAAD826C}" dt="2026-06-04T08:11:46.696" v="59" actId="20577"/>
        <pc:sldMkLst>
          <pc:docMk/>
          <pc:sldMk cId="0" sldId="263"/>
        </pc:sldMkLst>
        <pc:spChg chg="mod">
          <ac:chgData name="Astha Patrange" userId="4722a1d6d5948542" providerId="LiveId" clId="{DAD99565-443E-430D-B4DB-D617CAAD826C}" dt="2026-06-04T08:11:46.696" v="59" actId="20577"/>
          <ac:spMkLst>
            <pc:docMk/>
            <pc:sldMk cId="0" sldId="263"/>
            <ac:spMk id="114" creationId="{00000000-0000-0000-0000-000000000000}"/>
          </ac:spMkLst>
        </pc:spChg>
        <pc:picChg chg="del">
          <ac:chgData name="Astha Patrange" userId="4722a1d6d5948542" providerId="LiveId" clId="{DAD99565-443E-430D-B4DB-D617CAAD826C}" dt="2026-06-04T08:10:02.004" v="2" actId="478"/>
          <ac:picMkLst>
            <pc:docMk/>
            <pc:sldMk cId="0" sldId="263"/>
            <ac:picMk id="115" creationId="{00000000-0000-0000-0000-000000000000}"/>
          </ac:picMkLst>
        </pc:picChg>
      </pc:sldChg>
      <pc:sldChg chg="modSp mod">
        <pc:chgData name="Astha Patrange" userId="4722a1d6d5948542" providerId="LiveId" clId="{DAD99565-443E-430D-B4DB-D617CAAD826C}" dt="2026-06-04T09:08:31.835" v="107" actId="12"/>
        <pc:sldMkLst>
          <pc:docMk/>
          <pc:sldMk cId="0" sldId="266"/>
        </pc:sldMkLst>
        <pc:spChg chg="mod">
          <ac:chgData name="Astha Patrange" userId="4722a1d6d5948542" providerId="LiveId" clId="{DAD99565-443E-430D-B4DB-D617CAAD826C}" dt="2026-06-04T09:08:31.835" v="107" actId="12"/>
          <ac:spMkLst>
            <pc:docMk/>
            <pc:sldMk cId="0" sldId="266"/>
            <ac:spMk id="142" creationId="{00000000-0000-0000-0000-000000000000}"/>
          </ac:spMkLst>
        </pc:spChg>
      </pc:sldChg>
      <pc:sldChg chg="modSp mod">
        <pc:chgData name="Astha Patrange" userId="4722a1d6d5948542" providerId="LiveId" clId="{DAD99565-443E-430D-B4DB-D617CAAD826C}" dt="2026-06-04T08:24:52.089" v="106" actId="20577"/>
        <pc:sldMkLst>
          <pc:docMk/>
          <pc:sldMk cId="0" sldId="267"/>
        </pc:sldMkLst>
        <pc:spChg chg="mod">
          <ac:chgData name="Astha Patrange" userId="4722a1d6d5948542" providerId="LiveId" clId="{DAD99565-443E-430D-B4DB-D617CAAD826C}" dt="2026-06-04T08:24:52.089" v="106" actId="20577"/>
          <ac:spMkLst>
            <pc:docMk/>
            <pc:sldMk cId="0" sldId="267"/>
            <ac:spMk id="1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30D0691-CE4B-A4E3-F470-05D057DD0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>
            <a:extLst>
              <a:ext uri="{FF2B5EF4-FFF2-40B4-BE49-F238E27FC236}">
                <a16:creationId xmlns:a16="http://schemas.microsoft.com/office/drawing/2014/main" id="{5B308DE8-D916-1DD6-28A4-CC0A76FC2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3:notes">
            <a:extLst>
              <a:ext uri="{FF2B5EF4-FFF2-40B4-BE49-F238E27FC236}">
                <a16:creationId xmlns:a16="http://schemas.microsoft.com/office/drawing/2014/main" id="{618CF7A3-C7FE-643E-844D-8286E568F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443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/>
        </p:nvSpPr>
        <p:spPr>
          <a:xfrm>
            <a:off x="-10050" y="4800600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-1005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/>
        </p:nvSpPr>
        <p:spPr>
          <a:xfrm>
            <a:off x="6294474" y="3976577"/>
            <a:ext cx="23792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6A0E"/>
                </a:solidFill>
              </a:rPr>
              <a:t>Astha Sanjay Patrange</a:t>
            </a:r>
            <a:endParaRPr sz="1400" b="1" i="0" u="none" strike="noStrike" cap="none" dirty="0">
              <a:solidFill>
                <a:srgbClr val="FF6A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3471" y="-191635"/>
            <a:ext cx="2030579" cy="94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426E37-7A80-230E-8994-16FFF3B14F4B}"/>
              </a:ext>
            </a:extLst>
          </p:cNvPr>
          <p:cNvSpPr txBox="1"/>
          <p:nvPr/>
        </p:nvSpPr>
        <p:spPr>
          <a:xfrm>
            <a:off x="646176" y="1265355"/>
            <a:ext cx="77845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Crime Hotspot Prediction &amp; Analytics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7B3D4-5B73-A3C6-DAEF-6BB3CE43ED43}"/>
              </a:ext>
            </a:extLst>
          </p:cNvPr>
          <p:cNvSpPr txBox="1"/>
          <p:nvPr/>
        </p:nvSpPr>
        <p:spPr>
          <a:xfrm>
            <a:off x="1255776" y="2620966"/>
            <a:ext cx="6693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Tools Used : Python , Pandas , </a:t>
            </a:r>
            <a:r>
              <a:rPr lang="en-US" sz="2000" dirty="0" err="1"/>
              <a:t>Numpy</a:t>
            </a:r>
            <a:r>
              <a:rPr lang="en-US" sz="2000" dirty="0"/>
              <a:t> , Scikit-Learn ,      </a:t>
            </a:r>
            <a:r>
              <a:rPr lang="en-US" sz="2000" dirty="0" err="1"/>
              <a:t>Streamlit</a:t>
            </a:r>
            <a:r>
              <a:rPr lang="en-US" sz="2000" dirty="0"/>
              <a:t> , Matplotlib , Seaborn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Problem Statement</a:t>
            </a:r>
            <a:br>
              <a:rPr lang="en-US" sz="3200" b="1"/>
            </a:br>
            <a:endParaRPr sz="3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-10050" y="774001"/>
            <a:ext cx="9144000" cy="40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600" dirty="0"/>
              <a:t>Police departments face difficulties in identifying crime-prone areas before incidents occur.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600" dirty="0"/>
              <a:t> Traditional crime monitoring relies on historical reports and manual analysis. Manual methods are time-consuming and less effective for proactive decision-making. 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600" dirty="0"/>
              <a:t>Inefficient crime prediction can lead to poor resource allocation and delayed responses.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600" dirty="0"/>
              <a:t> There is a need for a data-driven system to predict crime risk levels and detect hotspot areas. </a:t>
            </a:r>
            <a:endParaRPr sz="1600" dirty="0"/>
          </a:p>
        </p:txBody>
      </p:sp>
      <p:sp>
        <p:nvSpPr>
          <p:cNvPr id="58" name="Google Shape;58;p12"/>
          <p:cNvSpPr txBox="1"/>
          <p:nvPr/>
        </p:nvSpPr>
        <p:spPr>
          <a:xfrm>
            <a:off x="-1005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"/>
          <p:cNvSpPr/>
          <p:nvPr/>
        </p:nvSpPr>
        <p:spPr>
          <a:xfrm rot="10800000">
            <a:off x="8637600" y="110168"/>
            <a:ext cx="506400" cy="596881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0" y="4910451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Business Objective</a:t>
            </a: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3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298896" y="1068695"/>
            <a:ext cx="884510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primary objective of this project is to develop a machine learning-based system capable of predicting crime levels and identifying hotspot areas.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Goals: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 crime risk level (Low, Medium, High)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 high-crime areas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alerts for dangerous locations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Dataset Overview</a:t>
            </a: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63200" y="964301"/>
            <a:ext cx="816863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/>
              <a:t>Dataset Type:</a:t>
            </a:r>
            <a:r>
              <a:rPr lang="en-IN" sz="1800" dirty="0"/>
              <a:t> Structured Data</a:t>
            </a:r>
          </a:p>
          <a:p>
            <a:pPr>
              <a:lnSpc>
                <a:spcPct val="200000"/>
              </a:lnSpc>
            </a:pPr>
            <a:r>
              <a:rPr lang="en-IN" sz="1800" b="1" dirty="0"/>
              <a:t>Key Attributes: </a:t>
            </a:r>
            <a:r>
              <a:rPr lang="en-IN" sz="1800" dirty="0"/>
              <a:t>City , Area ,Crime Type , Population , Past Crime Count, Unemployment Rate , Police Stations , Weather Conditions , Month ,Crime Level </a:t>
            </a:r>
          </a:p>
          <a:p>
            <a:pPr>
              <a:lnSpc>
                <a:spcPct val="200000"/>
              </a:lnSpc>
            </a:pPr>
            <a:r>
              <a:rPr lang="en-IN" sz="1800" b="1" dirty="0"/>
              <a:t>Target Variable:</a:t>
            </a:r>
            <a:endParaRPr lang="en-IN" sz="1800" dirty="0"/>
          </a:p>
          <a:p>
            <a:pPr>
              <a:lnSpc>
                <a:spcPct val="200000"/>
              </a:lnSpc>
            </a:pPr>
            <a:r>
              <a:rPr lang="en-IN" sz="1800" dirty="0"/>
              <a:t>Crime Level (Low, Medium, High)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Data Cleaning &amp; Preparation</a:t>
            </a:r>
            <a:br>
              <a:rPr lang="en-US" sz="3200" b="1"/>
            </a:b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26400" y="990463"/>
            <a:ext cx="714303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IN" sz="1800" dirty="0"/>
              <a:t>Handled missing values and checked data quality. </a:t>
            </a:r>
          </a:p>
          <a:p>
            <a:pPr marL="3429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IN" sz="1800" dirty="0"/>
              <a:t>Converted categorical data using Label Encoding. </a:t>
            </a:r>
          </a:p>
          <a:p>
            <a:pPr marL="3429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IN" sz="1800" dirty="0"/>
              <a:t>Prepared data for Machine Learning model training.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Tools &amp; Methodology</a:t>
            </a:r>
            <a:br>
              <a:rPr lang="en-US" sz="3200" b="1"/>
            </a:br>
            <a:br>
              <a:rPr lang="en-US" sz="3200" b="1"/>
            </a:b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0" y="4800600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512956" y="1219200"/>
            <a:ext cx="7334432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Python, Pandas, Scikit-Learn, </a:t>
            </a:r>
            <a:r>
              <a:rPr lang="en-IN" sz="1800" dirty="0" err="1"/>
              <a:t>Streamlit</a:t>
            </a:r>
            <a:r>
              <a:rPr lang="en-IN" sz="1800" dirty="0"/>
              <a:t>. 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Random Forest Classifier used for prediction. 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Data → Preprocessing → Model Training → Prediction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b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1" dirty="0">
                <a:solidFill>
                  <a:schemeClr val="lt1"/>
                </a:solidFill>
              </a:rPr>
            </a:br>
            <a:br>
              <a:rPr lang="en-US" sz="3200" b="1" dirty="0"/>
            </a:br>
            <a:br>
              <a:rPr lang="en-US" sz="3200" b="1" dirty="0">
                <a:solidFill>
                  <a:schemeClr val="lt1"/>
                </a:solidFill>
              </a:rPr>
            </a:br>
            <a:endParaRPr sz="3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8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26400" y="981307"/>
            <a:ext cx="7880898" cy="3151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EDA was performed to understand crime patterns and relationships.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Analysis Conducted: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Crime level distribution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City-wise crime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Area-wise crime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Crime trend visualization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Correlation heatmap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Findings:</a:t>
            </a:r>
          </a:p>
          <a:p>
            <a:pPr>
              <a:lnSpc>
                <a:spcPct val="150000"/>
              </a:lnSpc>
            </a:pPr>
            <a:r>
              <a:rPr lang="en-IN" dirty="0"/>
              <a:t>1) Certain cities consistently show higher crime counts. </a:t>
            </a:r>
          </a:p>
          <a:p>
            <a:pPr>
              <a:lnSpc>
                <a:spcPct val="150000"/>
              </a:lnSpc>
            </a:pPr>
            <a:r>
              <a:rPr lang="en-IN" dirty="0"/>
              <a:t>2) Areas with high historical crime records tend to remain high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 dirty="0">
                <a:solidFill>
                  <a:schemeClr val="lt1"/>
                </a:solidFill>
              </a:rPr>
              <a:t>Key Insights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>
                <a:solidFill>
                  <a:schemeClr val="lt1"/>
                </a:solidFill>
              </a:rPr>
            </a:br>
            <a:endParaRPr sz="3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26720" y="1072896"/>
            <a:ext cx="831179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800" dirty="0"/>
              <a:t>Past crime count is one of the strongest predictors of future crime risk.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800" dirty="0"/>
              <a:t> Areas with higher unemployment rates tend to show increased crime levels. 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800" dirty="0"/>
              <a:t>Crime patterns vary significantly across cities and regions.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800" dirty="0"/>
              <a:t> Police station availability impacts crime occurrence. </a:t>
            </a:r>
          </a:p>
          <a:p>
            <a:pPr marL="285750" lvl="0" indent="-285750">
              <a:lnSpc>
                <a:spcPct val="200000"/>
              </a:lnSpc>
              <a:buSzPts val="1800"/>
              <a:buFont typeface="Wingdings" panose="05000000000000000000" pitchFamily="2" charset="2"/>
              <a:buChar char="q"/>
            </a:pPr>
            <a:r>
              <a:rPr lang="en-IN" sz="1800" dirty="0"/>
              <a:t>Machine learning can effectively identify crime hotspots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Root Cause Analysis</a:t>
            </a: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2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158496" y="738406"/>
            <a:ext cx="857097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dirty="0"/>
              <a:t>Major factors contributing to crime risk include: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High unemployment rate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Population density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Historical crime frequency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Limited police coverage </a:t>
            </a:r>
          </a:p>
          <a:p>
            <a:pPr>
              <a:lnSpc>
                <a:spcPct val="200000"/>
              </a:lnSpc>
            </a:pPr>
            <a:r>
              <a:rPr lang="en-IN" sz="1800" dirty="0"/>
              <a:t>These variables influence the likelihood of crime incidents in a specific area.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Recommendations</a:t>
            </a: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3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326400" y="1032974"/>
            <a:ext cx="7647168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Based on the analysis: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Increase police patrols in hotspot regions.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Allocate additional resources to high-risk areas.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Monitor areas with rising crime trends.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Implement preventive measures in vulnerable locations.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Use predictive alerts for proactive crime prevention.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7A224963-D640-189B-A048-E36F36B9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>
            <a:extLst>
              <a:ext uri="{FF2B5EF4-FFF2-40B4-BE49-F238E27FC236}">
                <a16:creationId xmlns:a16="http://schemas.microsoft.com/office/drawing/2014/main" id="{3ADF4F2A-322B-E2D6-336E-64DDB65D484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 dirty="0">
                <a:solidFill>
                  <a:schemeClr val="lt1"/>
                </a:solidFill>
              </a:rPr>
              <a:t>Alert System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>
                <a:solidFill>
                  <a:schemeClr val="lt1"/>
                </a:solidFill>
              </a:rPr>
            </a:br>
            <a:endParaRPr sz="3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4E9C9AA8-893F-E056-A107-471A6B2DDF5C}"/>
              </a:ext>
            </a:extLst>
          </p:cNvPr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3">
            <a:extLst>
              <a:ext uri="{FF2B5EF4-FFF2-40B4-BE49-F238E27FC236}">
                <a16:creationId xmlns:a16="http://schemas.microsoft.com/office/drawing/2014/main" id="{B31ABF6C-92E0-FE28-6ACE-2C6A6F0AEDD5}"/>
              </a:ext>
            </a:extLst>
          </p:cNvPr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>
            <a:extLst>
              <a:ext uri="{FF2B5EF4-FFF2-40B4-BE49-F238E27FC236}">
                <a16:creationId xmlns:a16="http://schemas.microsoft.com/office/drawing/2014/main" id="{3B037DD4-F4E7-11B7-B9A0-6BED581B81EC}"/>
              </a:ext>
            </a:extLst>
          </p:cNvPr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F998118C-E46D-9B31-B733-21976A7FC1F5}"/>
              </a:ext>
            </a:extLst>
          </p:cNvPr>
          <p:cNvSpPr txBox="1"/>
          <p:nvPr/>
        </p:nvSpPr>
        <p:spPr>
          <a:xfrm>
            <a:off x="219456" y="1047645"/>
            <a:ext cx="89245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The system automatically generates alerts based on predicted crime level.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Low Risk</a:t>
            </a:r>
            <a:br>
              <a:rPr lang="en-IN" sz="1800" dirty="0"/>
            </a:br>
            <a:r>
              <a:rPr lang="en-IN" sz="1800" dirty="0"/>
              <a:t>✅ Area is relatively safe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Medium Risk</a:t>
            </a:r>
            <a:br>
              <a:rPr lang="en-IN" sz="1800" dirty="0"/>
            </a:br>
            <a:r>
              <a:rPr lang="en-IN" sz="1800" dirty="0"/>
              <a:t>⚠ Caution recommended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High Risk</a:t>
            </a:r>
            <a:br>
              <a:rPr lang="en-IN" sz="1800" dirty="0"/>
            </a:br>
            <a:r>
              <a:rPr lang="en-IN" sz="1800" dirty="0"/>
              <a:t>🚨 Crime Hotspot Alert Generated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This helps authorities take preventive action before incidents escalate</a:t>
            </a:r>
          </a:p>
        </p:txBody>
      </p:sp>
    </p:spTree>
    <p:extLst>
      <p:ext uri="{BB962C8B-B14F-4D97-AF65-F5344CB8AC3E}">
        <p14:creationId xmlns:p14="http://schemas.microsoft.com/office/powerpoint/2010/main" val="192803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ctrTitle"/>
          </p:nvPr>
        </p:nvSpPr>
        <p:spPr>
          <a:xfrm>
            <a:off x="0" y="-4252"/>
            <a:ext cx="9144000" cy="742658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5200"/>
              <a:buNone/>
            </a:pPr>
            <a:r>
              <a:rPr lang="en-US" sz="3200" b="1">
                <a:solidFill>
                  <a:schemeClr val="lt1"/>
                </a:solidFill>
              </a:rPr>
              <a:t>Conclusion &amp; Learnings</a:t>
            </a: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/>
            </a:br>
            <a:br>
              <a:rPr lang="en-US" sz="3200" b="1">
                <a:solidFill>
                  <a:schemeClr val="lt1"/>
                </a:solidFill>
              </a:rPr>
            </a:br>
            <a:endParaRPr sz="3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0" y="4910451"/>
            <a:ext cx="9164100" cy="2706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828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 rot="10800000">
            <a:off x="8637600" y="97750"/>
            <a:ext cx="506400" cy="5664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0" y="4885345"/>
            <a:ext cx="326400" cy="2706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326400" y="1108714"/>
            <a:ext cx="590842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Successfully predicts crime risk levels.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 Helps identify crime-prone areas. 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IN" sz="1800" dirty="0"/>
              <a:t>Supports data-driven policing and public safety.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667</Words>
  <Application>Microsoft Office PowerPoint</Application>
  <PresentationFormat>On-screen Show (16:9)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Roboto</vt:lpstr>
      <vt:lpstr>Wingdings</vt:lpstr>
      <vt:lpstr>Simple Light</vt:lpstr>
      <vt:lpstr>PowerPoint Presentation</vt:lpstr>
      <vt:lpstr>Problem Statement </vt:lpstr>
      <vt:lpstr>Business Objective </vt:lpstr>
      <vt:lpstr>Dataset Overview </vt:lpstr>
      <vt:lpstr>Data Cleaning &amp; Preparation  </vt:lpstr>
      <vt:lpstr>Tools &amp; Methodology   </vt:lpstr>
      <vt:lpstr>Exploratory Data Analysis (EDA)    </vt:lpstr>
      <vt:lpstr>Key Insights    </vt:lpstr>
      <vt:lpstr>Root Cause Analysis     </vt:lpstr>
      <vt:lpstr>Recommendations      </vt:lpstr>
      <vt:lpstr>Alert System      </vt:lpstr>
      <vt:lpstr>Conclusion &amp; Learnings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Astha</dc:creator>
  <cp:lastModifiedBy>Astha Patrange</cp:lastModifiedBy>
  <cp:revision>3</cp:revision>
  <dcterms:modified xsi:type="dcterms:W3CDTF">2026-06-04T09:11:31Z</dcterms:modified>
</cp:coreProperties>
</file>